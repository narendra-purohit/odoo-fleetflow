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9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8179" y="1131213"/>
            <a:ext cx="1569839" cy="334208"/>
          </a:xfrm>
          <a:prstGeom prst="roundRect">
            <a:avLst>
              <a:gd name="adj" fmla="val 68558"/>
            </a:avLst>
          </a:prstGeom>
          <a:solidFill>
            <a:srgbClr val="CFD6FC"/>
          </a:solidFill>
          <a:ln/>
        </p:spPr>
      </p:sp>
      <p:sp>
        <p:nvSpPr>
          <p:cNvPr id="4" name="Text 1"/>
          <p:cNvSpPr/>
          <p:nvPr/>
        </p:nvSpPr>
        <p:spPr>
          <a:xfrm>
            <a:off x="782717" y="1188482"/>
            <a:ext cx="1340763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MVP PRESENTATION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8179" y="1526262"/>
            <a:ext cx="7807643" cy="112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FleetFlow: Modular Fleet &amp; Logistics Management System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68179" y="2877622"/>
            <a:ext cx="7807643" cy="54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rule-based digital platform to optimise fleet lifecycle, driver safety, and financial performance — built for operational excellence.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68179" y="3699450"/>
            <a:ext cx="95369" cy="95369"/>
          </a:xfrm>
          <a:prstGeom prst="roundRect">
            <a:avLst>
              <a:gd name="adj" fmla="val 479401"/>
            </a:avLst>
          </a:prstGeom>
          <a:solidFill>
            <a:srgbClr val="2D4DF2"/>
          </a:solidFill>
          <a:ln/>
        </p:spPr>
      </p:sp>
      <p:sp>
        <p:nvSpPr>
          <p:cNvPr id="8" name="Text 5"/>
          <p:cNvSpPr/>
          <p:nvPr/>
        </p:nvSpPr>
        <p:spPr>
          <a:xfrm>
            <a:off x="915829" y="3598069"/>
            <a:ext cx="2313861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Team Lead &amp; Architect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15829" y="3970139"/>
            <a:ext cx="7559993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Narendra Purohit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8179" y="4650641"/>
            <a:ext cx="95369" cy="95369"/>
          </a:xfrm>
          <a:prstGeom prst="roundRect">
            <a:avLst>
              <a:gd name="adj" fmla="val 479401"/>
            </a:avLst>
          </a:prstGeom>
          <a:solidFill>
            <a:srgbClr val="018CE1"/>
          </a:solidFill>
          <a:ln/>
        </p:spPr>
      </p:sp>
      <p:sp>
        <p:nvSpPr>
          <p:cNvPr id="11" name="Text 8"/>
          <p:cNvSpPr/>
          <p:nvPr/>
        </p:nvSpPr>
        <p:spPr>
          <a:xfrm>
            <a:off x="915829" y="4549259"/>
            <a:ext cx="2246233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Backend Developer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15829" y="4921329"/>
            <a:ext cx="7559993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Bhavesh Tirgar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68179" y="5601831"/>
            <a:ext cx="95369" cy="95369"/>
          </a:xfrm>
          <a:prstGeom prst="roundRect">
            <a:avLst>
              <a:gd name="adj" fmla="val 479401"/>
            </a:avLst>
          </a:prstGeom>
          <a:solidFill>
            <a:srgbClr val="DA33BF"/>
          </a:solidFill>
          <a:ln/>
        </p:spPr>
      </p:sp>
      <p:sp>
        <p:nvSpPr>
          <p:cNvPr id="14" name="Text 11"/>
          <p:cNvSpPr/>
          <p:nvPr/>
        </p:nvSpPr>
        <p:spPr>
          <a:xfrm>
            <a:off x="915829" y="5500449"/>
            <a:ext cx="2704981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Frontend &amp; DB Integration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15829" y="5872520"/>
            <a:ext cx="7559993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Dixit Luvani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68179" y="6553021"/>
            <a:ext cx="95369" cy="95369"/>
          </a:xfrm>
          <a:prstGeom prst="roundRect">
            <a:avLst>
              <a:gd name="adj" fmla="val 479401"/>
            </a:avLst>
          </a:prstGeom>
          <a:solidFill>
            <a:srgbClr val="2D4DF2"/>
          </a:solidFill>
          <a:ln/>
        </p:spPr>
      </p:sp>
      <p:sp>
        <p:nvSpPr>
          <p:cNvPr id="17" name="Text 14"/>
          <p:cNvSpPr/>
          <p:nvPr/>
        </p:nvSpPr>
        <p:spPr>
          <a:xfrm>
            <a:off x="915829" y="6451640"/>
            <a:ext cx="2246233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Testing &amp; Analytics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915829" y="6823710"/>
            <a:ext cx="7559993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Hardik Saraviya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849154"/>
            <a:ext cx="1529953" cy="495538"/>
          </a:xfrm>
          <a:prstGeom prst="roundRect">
            <a:avLst>
              <a:gd name="adj" fmla="val 57969"/>
            </a:avLst>
          </a:prstGeom>
          <a:noFill/>
          <a:ln w="22860">
            <a:solidFill>
              <a:srgbClr val="2D4D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4173" y="943808"/>
            <a:ext cx="119705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440418"/>
            <a:ext cx="88744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Manual Processes Are Costing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2503408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Traditional fleet management relies on paper logbooks and disconnected spreadsheets — creating costly gaps across operations, compliance, and finance.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37724" y="3538657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7244" y="3538657"/>
            <a:ext cx="121920" cy="1801177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8" name="Text 6"/>
          <p:cNvSpPr/>
          <p:nvPr/>
        </p:nvSpPr>
        <p:spPr>
          <a:xfrm>
            <a:off x="1198959" y="3808452"/>
            <a:ext cx="419016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Unreliable Maintenance Tracking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98959" y="4303990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Vehicle health updates are delayed or missed entirely, increasing breakdown risk.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434858" y="3538657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4378" y="3538657"/>
            <a:ext cx="121920" cy="1801177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12" name="Text 10"/>
          <p:cNvSpPr/>
          <p:nvPr/>
        </p:nvSpPr>
        <p:spPr>
          <a:xfrm>
            <a:off x="7796093" y="3808452"/>
            <a:ext cx="468725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Delayed Dispatch &amp; Cargo Mismatch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96093" y="4303990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Trip assignments are slow and cargo-to-capacity validation is done manually — or not at all.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837724" y="5579150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DA33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7244" y="5579150"/>
            <a:ext cx="121920" cy="1801177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</p:sp>
      <p:sp>
        <p:nvSpPr>
          <p:cNvPr id="16" name="Text 14"/>
          <p:cNvSpPr/>
          <p:nvPr/>
        </p:nvSpPr>
        <p:spPr>
          <a:xfrm>
            <a:off x="1198959" y="5848945"/>
            <a:ext cx="31344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No Compliance Visibility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98959" y="6344483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Driver licences and safety records are tracked informally, with no audit trail.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7434858" y="5579150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4378" y="5579150"/>
            <a:ext cx="121920" cy="1801177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20" name="Text 18"/>
          <p:cNvSpPr/>
          <p:nvPr/>
        </p:nvSpPr>
        <p:spPr>
          <a:xfrm>
            <a:off x="7796093" y="5848945"/>
            <a:ext cx="346067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Fragmented Financial Data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96093" y="6344483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Fuel costs, maintenance expenses, and operational ROI lack centralised oversight.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875" y="896183"/>
            <a:ext cx="990362" cy="362664"/>
          </a:xfrm>
          <a:prstGeom prst="roundRect">
            <a:avLst>
              <a:gd name="adj" fmla="val 67305"/>
            </a:avLst>
          </a:prstGeom>
          <a:solidFill>
            <a:srgbClr val="CFD6FC"/>
          </a:solidFill>
          <a:ln/>
        </p:spPr>
      </p:sp>
      <p:sp>
        <p:nvSpPr>
          <p:cNvPr id="3" name="Text 1"/>
          <p:cNvSpPr/>
          <p:nvPr/>
        </p:nvSpPr>
        <p:spPr>
          <a:xfrm>
            <a:off x="833914" y="957143"/>
            <a:ext cx="746284" cy="240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1875" y="1327904"/>
            <a:ext cx="5865614" cy="598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One Platform. Full Control.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711875" y="2185392"/>
            <a:ext cx="13206651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FleetFlow is designed to eliminate fragmentation by bringing every operational dimension — fleet, drivers, trips, costs — into a single rule-based system.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1875" y="2680692"/>
            <a:ext cx="6516886" cy="2239923"/>
          </a:xfrm>
          <a:prstGeom prst="roundRect">
            <a:avLst>
              <a:gd name="adj" fmla="val 13622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8093" y="2906911"/>
            <a:ext cx="610195" cy="610195"/>
          </a:xfrm>
          <a:prstGeom prst="roundRect">
            <a:avLst>
              <a:gd name="adj" fmla="val 14983875"/>
            </a:avLst>
          </a:prstGeom>
          <a:solidFill>
            <a:srgbClr val="2D4D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5853" y="3074670"/>
            <a:ext cx="274558" cy="2745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8093" y="3689866"/>
            <a:ext cx="239291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Digitise Fleet &amp; Trips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38093" y="4092654"/>
            <a:ext cx="6064448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End-to-end digital management of vehicles and dispatch workflows.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01520" y="2680692"/>
            <a:ext cx="6517005" cy="2239923"/>
          </a:xfrm>
          <a:prstGeom prst="roundRect">
            <a:avLst>
              <a:gd name="adj" fmla="val 13622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27739" y="2906911"/>
            <a:ext cx="610195" cy="610195"/>
          </a:xfrm>
          <a:prstGeom prst="roundRect">
            <a:avLst>
              <a:gd name="adj" fmla="val 14983875"/>
            </a:avLst>
          </a:prstGeom>
          <a:solidFill>
            <a:srgbClr val="018CE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5498" y="3074670"/>
            <a:ext cx="274558" cy="2745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27739" y="3689866"/>
            <a:ext cx="2743676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Driver Safety &amp; Licensing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7627739" y="4092654"/>
            <a:ext cx="6064568" cy="60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 driver compliance, licence validity, and safety scores in real time.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11875" y="5093375"/>
            <a:ext cx="6516886" cy="2239923"/>
          </a:xfrm>
          <a:prstGeom prst="roundRect">
            <a:avLst>
              <a:gd name="adj" fmla="val 13622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38093" y="5319593"/>
            <a:ext cx="610195" cy="610195"/>
          </a:xfrm>
          <a:prstGeom prst="roundRect">
            <a:avLst>
              <a:gd name="adj" fmla="val 14983875"/>
            </a:avLst>
          </a:prstGeom>
          <a:solidFill>
            <a:srgbClr val="DA33B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5853" y="5487353"/>
            <a:ext cx="274558" cy="2745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8093" y="6102548"/>
            <a:ext cx="281904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Maintenance &amp; Fuel Costs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938093" y="6505337"/>
            <a:ext cx="6064448" cy="60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Track every operational expense with automated status flags and logs.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401520" y="5093375"/>
            <a:ext cx="6517005" cy="2239923"/>
          </a:xfrm>
          <a:prstGeom prst="roundRect">
            <a:avLst>
              <a:gd name="adj" fmla="val 13622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627739" y="5319593"/>
            <a:ext cx="610195" cy="610195"/>
          </a:xfrm>
          <a:prstGeom prst="roundRect">
            <a:avLst>
              <a:gd name="adj" fmla="val 14983875"/>
            </a:avLst>
          </a:prstGeom>
          <a:solidFill>
            <a:srgbClr val="2D4DF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5498" y="5487353"/>
            <a:ext cx="274558" cy="27455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27739" y="6102548"/>
            <a:ext cx="2392918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Real-Time Analytics</a:t>
            </a:r>
            <a:endParaRPr lang="en-US" sz="1850" dirty="0"/>
          </a:p>
        </p:txBody>
      </p:sp>
      <p:sp>
        <p:nvSpPr>
          <p:cNvPr id="25" name="Text 19"/>
          <p:cNvSpPr/>
          <p:nvPr/>
        </p:nvSpPr>
        <p:spPr>
          <a:xfrm>
            <a:off x="7627739" y="6505337"/>
            <a:ext cx="6064568" cy="60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Actionable insights for ROI, fuel efficiency, and cost-per-km decision-making.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08967" y="1453872"/>
            <a:ext cx="1023699" cy="291584"/>
          </a:xfrm>
          <a:prstGeom prst="roundRect">
            <a:avLst>
              <a:gd name="adj" fmla="val 64719"/>
            </a:avLst>
          </a:prstGeom>
          <a:noFill/>
          <a:ln w="15240">
            <a:solidFill>
              <a:srgbClr val="2D4D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18504" y="1516261"/>
            <a:ext cx="804624" cy="166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TARGET USERS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208967" y="1786771"/>
            <a:ext cx="6545223" cy="462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Built for Every Stakeholder in the Fleet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8967" y="2774990"/>
            <a:ext cx="6503789" cy="36299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03995" y="2520434"/>
            <a:ext cx="3324939" cy="3420785"/>
          </a:xfrm>
          <a:prstGeom prst="roundRect">
            <a:avLst>
              <a:gd name="adj" fmla="val 70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11615" y="2528054"/>
            <a:ext cx="3309699" cy="3475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268897" y="2597587"/>
            <a:ext cx="1005721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96563" y="2597587"/>
            <a:ext cx="1667589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Core Responsibility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11615" y="2875597"/>
            <a:ext cx="3309699" cy="7645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9268897" y="2945130"/>
            <a:ext cx="1005721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Fleet Manager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96563" y="2945130"/>
            <a:ext cx="1667589" cy="625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 vehicle health, scheduling, and availability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11615" y="3640098"/>
            <a:ext cx="3309699" cy="764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268897" y="3709630"/>
            <a:ext cx="1005721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18CE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Dispatcher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96563" y="3709630"/>
            <a:ext cx="1667589" cy="625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Assign drivers, validate cargo capacity, manage trips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11615" y="4404598"/>
            <a:ext cx="3309699" cy="7645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9268897" y="4474131"/>
            <a:ext cx="1005721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DA33B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Safety Officer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96563" y="4474131"/>
            <a:ext cx="1667589" cy="625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 licences, compliance records, and safety scores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11615" y="5169098"/>
            <a:ext cx="3309699" cy="764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268897" y="5238631"/>
            <a:ext cx="1005721" cy="41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Financial Analyst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96563" y="5238631"/>
            <a:ext cx="1667589" cy="625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Audit fuel usage, maintenance spend, and ROI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03995" y="6057424"/>
            <a:ext cx="3324939" cy="625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Role-based access control ensures each user sees only what is relevant to their function — keeping the system focused and secure.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8762" y="601861"/>
            <a:ext cx="1016675" cy="186452"/>
          </a:xfrm>
          <a:prstGeom prst="roundRect">
            <a:avLst>
              <a:gd name="adj" fmla="val 77032"/>
            </a:avLst>
          </a:prstGeom>
          <a:solidFill>
            <a:srgbClr val="CFD6FC"/>
          </a:solidFill>
          <a:ln/>
        </p:spPr>
      </p:sp>
      <p:sp>
        <p:nvSpPr>
          <p:cNvPr id="3" name="Text 1"/>
          <p:cNvSpPr/>
          <p:nvPr/>
        </p:nvSpPr>
        <p:spPr>
          <a:xfrm>
            <a:off x="3500557" y="637699"/>
            <a:ext cx="873085" cy="114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CORE SYSTEM PAGES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28762" y="812244"/>
            <a:ext cx="459497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Eight Modules. One Unified System.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28762" y="1253847"/>
            <a:ext cx="7772757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FleetFlow is structured around eight purpose-built pages, each covering a distinct operational domain.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28762" y="1464707"/>
            <a:ext cx="7772757" cy="718066"/>
          </a:xfrm>
          <a:prstGeom prst="roundRect">
            <a:avLst>
              <a:gd name="adj" fmla="val 25003"/>
            </a:avLst>
          </a:prstGeom>
          <a:solidFill>
            <a:srgbClr val="F3F3FF">
              <a:alpha val="75000"/>
            </a:srgbClr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44002" y="1479947"/>
            <a:ext cx="478750" cy="687586"/>
          </a:xfrm>
          <a:prstGeom prst="roundRect">
            <a:avLst>
              <a:gd name="adj" fmla="val 33681"/>
            </a:avLst>
          </a:prstGeom>
          <a:solidFill>
            <a:srgbClr val="F3F3FF"/>
          </a:solidFill>
          <a:ln/>
        </p:spPr>
      </p:sp>
      <p:sp>
        <p:nvSpPr>
          <p:cNvPr id="8" name="Text 6"/>
          <p:cNvSpPr/>
          <p:nvPr/>
        </p:nvSpPr>
        <p:spPr>
          <a:xfrm>
            <a:off x="3589853" y="1711523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82522" y="1599605"/>
            <a:ext cx="1478280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Login &amp; Authentication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82522" y="1811417"/>
            <a:ext cx="7084100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Secure RBAC access for all user roles.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8762" y="2242542"/>
            <a:ext cx="7772757" cy="718066"/>
          </a:xfrm>
          <a:prstGeom prst="roundRect">
            <a:avLst>
              <a:gd name="adj" fmla="val 25003"/>
            </a:avLst>
          </a:prstGeom>
          <a:solidFill>
            <a:srgbClr val="F3F3FF">
              <a:alpha val="75000"/>
            </a:srgbClr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4002" y="2257782"/>
            <a:ext cx="478750" cy="687586"/>
          </a:xfrm>
          <a:prstGeom prst="roundRect">
            <a:avLst>
              <a:gd name="adj" fmla="val 33681"/>
            </a:avLst>
          </a:prstGeom>
          <a:solidFill>
            <a:srgbClr val="F3F3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89853" y="2489359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82522" y="2377440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Command Centre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82522" y="2589252"/>
            <a:ext cx="7084100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Live fleet KPI overview and dashboard.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28762" y="3020378"/>
            <a:ext cx="7772757" cy="718066"/>
          </a:xfrm>
          <a:prstGeom prst="roundRect">
            <a:avLst>
              <a:gd name="adj" fmla="val 25003"/>
            </a:avLst>
          </a:prstGeom>
          <a:solidFill>
            <a:srgbClr val="F3F3FF">
              <a:alpha val="75000"/>
            </a:srgbClr>
          </a:solidFill>
          <a:ln w="15240">
            <a:solidFill>
              <a:srgbClr val="DA33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44002" y="3035618"/>
            <a:ext cx="478750" cy="687586"/>
          </a:xfrm>
          <a:prstGeom prst="roundRect">
            <a:avLst>
              <a:gd name="adj" fmla="val 33681"/>
            </a:avLst>
          </a:prstGeom>
          <a:solidFill>
            <a:srgbClr val="F3F3FF"/>
          </a:solidFill>
          <a:ln/>
        </p:spPr>
      </p:sp>
      <p:sp>
        <p:nvSpPr>
          <p:cNvPr id="18" name="Text 16"/>
          <p:cNvSpPr/>
          <p:nvPr/>
        </p:nvSpPr>
        <p:spPr>
          <a:xfrm>
            <a:off x="3589853" y="3267194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82522" y="3155275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Vehicle Registry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82522" y="3367088"/>
            <a:ext cx="7084100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Full CRUD operations and status control.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8762" y="3798213"/>
            <a:ext cx="7772757" cy="718066"/>
          </a:xfrm>
          <a:prstGeom prst="roundRect">
            <a:avLst>
              <a:gd name="adj" fmla="val 25003"/>
            </a:avLst>
          </a:prstGeom>
          <a:solidFill>
            <a:srgbClr val="F3F3FF">
              <a:alpha val="75000"/>
            </a:srgbClr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44002" y="3813453"/>
            <a:ext cx="478750" cy="687586"/>
          </a:xfrm>
          <a:prstGeom prst="roundRect">
            <a:avLst>
              <a:gd name="adj" fmla="val 33681"/>
            </a:avLst>
          </a:prstGeom>
          <a:solidFill>
            <a:srgbClr val="F3F3FF"/>
          </a:solidFill>
          <a:ln/>
        </p:spPr>
      </p:sp>
      <p:sp>
        <p:nvSpPr>
          <p:cNvPr id="23" name="Text 21"/>
          <p:cNvSpPr/>
          <p:nvPr/>
        </p:nvSpPr>
        <p:spPr>
          <a:xfrm>
            <a:off x="3589853" y="4045029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82522" y="3933111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Trip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82522" y="4144923"/>
            <a:ext cx="7084100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Dispatch workflow with cargo validation.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8762" y="4576048"/>
            <a:ext cx="7772757" cy="718066"/>
          </a:xfrm>
          <a:prstGeom prst="roundRect">
            <a:avLst>
              <a:gd name="adj" fmla="val 25003"/>
            </a:avLst>
          </a:prstGeom>
          <a:solidFill>
            <a:srgbClr val="F3F3FF">
              <a:alpha val="75000"/>
            </a:srgbClr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44002" y="4591288"/>
            <a:ext cx="478750" cy="687586"/>
          </a:xfrm>
          <a:prstGeom prst="roundRect">
            <a:avLst>
              <a:gd name="adj" fmla="val 33681"/>
            </a:avLst>
          </a:prstGeom>
          <a:solidFill>
            <a:srgbClr val="F3F3FF"/>
          </a:solidFill>
          <a:ln/>
        </p:spPr>
      </p:sp>
      <p:sp>
        <p:nvSpPr>
          <p:cNvPr id="28" name="Text 26"/>
          <p:cNvSpPr/>
          <p:nvPr/>
        </p:nvSpPr>
        <p:spPr>
          <a:xfrm>
            <a:off x="3589853" y="4822865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82522" y="4710946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Maintenance Logs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82522" y="4922758"/>
            <a:ext cx="7084100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Auto-triggers "In Shop" flag on entry.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28762" y="5353883"/>
            <a:ext cx="7772757" cy="718066"/>
          </a:xfrm>
          <a:prstGeom prst="roundRect">
            <a:avLst>
              <a:gd name="adj" fmla="val 25003"/>
            </a:avLst>
          </a:prstGeom>
          <a:solidFill>
            <a:srgbClr val="F3F3FF">
              <a:alpha val="75000"/>
            </a:srgbClr>
          </a:solidFill>
          <a:ln w="15240">
            <a:solidFill>
              <a:srgbClr val="DA33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44002" y="5369123"/>
            <a:ext cx="478750" cy="687586"/>
          </a:xfrm>
          <a:prstGeom prst="roundRect">
            <a:avLst>
              <a:gd name="adj" fmla="val 33681"/>
            </a:avLst>
          </a:prstGeom>
          <a:solidFill>
            <a:srgbClr val="F3F3FF"/>
          </a:solidFill>
          <a:ln/>
        </p:spPr>
      </p:sp>
      <p:sp>
        <p:nvSpPr>
          <p:cNvPr id="33" name="Text 31"/>
          <p:cNvSpPr/>
          <p:nvPr/>
        </p:nvSpPr>
        <p:spPr>
          <a:xfrm>
            <a:off x="3589853" y="5600700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82522" y="5488781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Expense &amp; Fuel Logs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82522" y="5700593"/>
            <a:ext cx="7084100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Operational cost tracking per vehicle.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28762" y="6131719"/>
            <a:ext cx="7772757" cy="718066"/>
          </a:xfrm>
          <a:prstGeom prst="roundRect">
            <a:avLst>
              <a:gd name="adj" fmla="val 25003"/>
            </a:avLst>
          </a:prstGeom>
          <a:solidFill>
            <a:srgbClr val="F3F3FF">
              <a:alpha val="75000"/>
            </a:srgbClr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44002" y="6146959"/>
            <a:ext cx="478750" cy="687586"/>
          </a:xfrm>
          <a:prstGeom prst="roundRect">
            <a:avLst>
              <a:gd name="adj" fmla="val 33681"/>
            </a:avLst>
          </a:prstGeom>
          <a:solidFill>
            <a:srgbClr val="F3F3FF"/>
          </a:solidFill>
          <a:ln/>
        </p:spPr>
      </p:sp>
      <p:sp>
        <p:nvSpPr>
          <p:cNvPr id="38" name="Text 36"/>
          <p:cNvSpPr/>
          <p:nvPr/>
        </p:nvSpPr>
        <p:spPr>
          <a:xfrm>
            <a:off x="3589853" y="6378535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982522" y="6266617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Driver Profiles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82522" y="6478429"/>
            <a:ext cx="7084100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Safety scores and compliance data.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28762" y="6909554"/>
            <a:ext cx="7772757" cy="718066"/>
          </a:xfrm>
          <a:prstGeom prst="roundRect">
            <a:avLst>
              <a:gd name="adj" fmla="val 25003"/>
            </a:avLst>
          </a:prstGeom>
          <a:solidFill>
            <a:srgbClr val="F3F3FF">
              <a:alpha val="75000"/>
            </a:srgbClr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44002" y="6924794"/>
            <a:ext cx="478750" cy="687586"/>
          </a:xfrm>
          <a:prstGeom prst="roundRect">
            <a:avLst>
              <a:gd name="adj" fmla="val 33681"/>
            </a:avLst>
          </a:prstGeom>
          <a:solidFill>
            <a:srgbClr val="F3F3FF"/>
          </a:solidFill>
          <a:ln/>
        </p:spPr>
      </p:sp>
      <p:sp>
        <p:nvSpPr>
          <p:cNvPr id="43" name="Text 41"/>
          <p:cNvSpPr/>
          <p:nvPr/>
        </p:nvSpPr>
        <p:spPr>
          <a:xfrm>
            <a:off x="3589853" y="7156371"/>
            <a:ext cx="179427" cy="224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982522" y="7044452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Analytics Reports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982522" y="7256264"/>
            <a:ext cx="7084100" cy="143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ROI, efficiency metrics, and cost-per-km.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924" y="769382"/>
            <a:ext cx="1143953" cy="392192"/>
          </a:xfrm>
          <a:prstGeom prst="roundRect">
            <a:avLst>
              <a:gd name="adj" fmla="val 62091"/>
            </a:avLst>
          </a:prstGeom>
          <a:noFill/>
          <a:ln w="15240">
            <a:solidFill>
              <a:srgbClr val="2D4D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2846" y="845463"/>
            <a:ext cx="870109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5924" y="1230273"/>
            <a:ext cx="8792170" cy="596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Modern, Reliable, Deployable Anywhere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579834" y="2085023"/>
            <a:ext cx="6633805" cy="5375196"/>
          </a:xfrm>
          <a:prstGeom prst="roundRect">
            <a:avLst>
              <a:gd name="adj" fmla="val 9061"/>
            </a:avLst>
          </a:prstGeom>
          <a:solidFill>
            <a:srgbClr val="2D4DF2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2717" y="2256949"/>
            <a:ext cx="2387322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Core Technologies</a:t>
            </a:r>
            <a:endParaRPr lang="en-US" sz="1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2717" y="2774156"/>
            <a:ext cx="202883" cy="20288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2717" y="3070741"/>
            <a:ext cx="6228040" cy="2286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9" name="Text 6"/>
          <p:cNvSpPr/>
          <p:nvPr/>
        </p:nvSpPr>
        <p:spPr>
          <a:xfrm>
            <a:off x="782717" y="3217902"/>
            <a:ext cx="2387322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Django Framework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82717" y="3688199"/>
            <a:ext cx="6228040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Robust Python backend with built-in ORM and admin.</a:t>
            </a:r>
            <a:endParaRPr lang="en-US" sz="1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717" y="4337447"/>
            <a:ext cx="202883" cy="20288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82717" y="4634032"/>
            <a:ext cx="6228040" cy="2286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13" name="Text 9"/>
          <p:cNvSpPr/>
          <p:nvPr/>
        </p:nvSpPr>
        <p:spPr>
          <a:xfrm>
            <a:off x="782717" y="4781193"/>
            <a:ext cx="2387322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PostgreSQL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782717" y="5251490"/>
            <a:ext cx="6228040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Reliable relational database for structured fleet data.</a:t>
            </a:r>
            <a:endParaRPr lang="en-US" sz="15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717" y="5900738"/>
            <a:ext cx="202883" cy="20288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82717" y="6197322"/>
            <a:ext cx="6228040" cy="22860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17" name="Text 12"/>
          <p:cNvSpPr/>
          <p:nvPr/>
        </p:nvSpPr>
        <p:spPr>
          <a:xfrm>
            <a:off x="782717" y="6344483"/>
            <a:ext cx="2387322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HTML / CSS / JS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782717" y="6814780"/>
            <a:ext cx="6228040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Responsive frontend with Bootstrap or React optional.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570232" y="2256949"/>
            <a:ext cx="2966442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Architecture &amp; Deployment</a:t>
            </a:r>
            <a:endParaRPr lang="en-US" sz="18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70232" y="2774156"/>
            <a:ext cx="202883" cy="202883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570232" y="3070741"/>
            <a:ext cx="6341626" cy="2286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22" name="Text 16"/>
          <p:cNvSpPr/>
          <p:nvPr/>
        </p:nvSpPr>
        <p:spPr>
          <a:xfrm>
            <a:off x="7570232" y="3217902"/>
            <a:ext cx="2387322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Modular MVC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7570232" y="3688199"/>
            <a:ext cx="6341626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Clean separation of Models, Views, and Controllers for maintainability and scaling.</a:t>
            </a:r>
            <a:endParaRPr lang="en-US" sz="15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70232" y="4637246"/>
            <a:ext cx="202883" cy="202883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7570232" y="4933831"/>
            <a:ext cx="6341626" cy="2286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26" name="Text 19"/>
          <p:cNvSpPr/>
          <p:nvPr/>
        </p:nvSpPr>
        <p:spPr>
          <a:xfrm>
            <a:off x="7570232" y="5080992"/>
            <a:ext cx="2387322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Flexible Deployment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7570232" y="5551289"/>
            <a:ext cx="6341626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Deployable on AWS, Render, Railway, or localhost — adapting to any infrastructure requirement.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379" y="588764"/>
            <a:ext cx="2034064" cy="387906"/>
          </a:xfrm>
          <a:prstGeom prst="roundRect">
            <a:avLst>
              <a:gd name="adj" fmla="val 66239"/>
            </a:avLst>
          </a:prstGeom>
          <a:solidFill>
            <a:srgbClr val="CFD6FC"/>
          </a:solidFill>
          <a:ln/>
        </p:spPr>
      </p:sp>
      <p:sp>
        <p:nvSpPr>
          <p:cNvPr id="3" name="Text 1"/>
          <p:cNvSpPr/>
          <p:nvPr/>
        </p:nvSpPr>
        <p:spPr>
          <a:xfrm>
            <a:off x="877848" y="652939"/>
            <a:ext cx="1777127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379" y="1053227"/>
            <a:ext cx="8159353" cy="629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Four Layers. Seamlessly Integrated.</a:t>
            </a:r>
            <a:endParaRPr lang="en-US" sz="3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51" y="1970008"/>
            <a:ext cx="12976979" cy="48408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87027" y="2264905"/>
            <a:ext cx="2780560" cy="347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Frontend UI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857482" y="2717320"/>
            <a:ext cx="2810105" cy="55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Role-based dashboards for Admin, Dispatcher, Analyst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684610" y="3144704"/>
            <a:ext cx="2780560" cy="347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Backend Django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684610" y="3597120"/>
            <a:ext cx="2810105" cy="55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Business logic, workflow, validation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164804" y="4155817"/>
            <a:ext cx="2780560" cy="347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PostgreSQL DB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135258" y="4608232"/>
            <a:ext cx="2810105" cy="55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Vehicles, drivers, trips, maintenance, expenses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0684610" y="5377031"/>
            <a:ext cx="2780560" cy="347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Analytics Layer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10684610" y="5829447"/>
            <a:ext cx="2810105" cy="559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ROI, fuel efficiency, cost-per-km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49379" y="7026235"/>
            <a:ext cx="13131641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layered architecture ensures clean separation of concerns — the frontend handles presentation, Django enforces business rules, PostgreSQL stores structured data, and the analytics layer surfaces actionable insights for decision-makers.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12432" y="630793"/>
            <a:ext cx="1087398" cy="284798"/>
          </a:xfrm>
          <a:prstGeom prst="roundRect">
            <a:avLst>
              <a:gd name="adj" fmla="val 64918"/>
            </a:avLst>
          </a:prstGeom>
          <a:noFill/>
          <a:ln w="15240">
            <a:solidFill>
              <a:srgbClr val="2D4D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20064" y="692229"/>
            <a:ext cx="8721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KEY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12432" y="955238"/>
            <a:ext cx="7891224" cy="4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From Vehicle Registration to ROI — In Six Steps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2312432" y="1557099"/>
            <a:ext cx="616268" cy="924401"/>
          </a:xfrm>
          <a:prstGeom prst="roundRect">
            <a:avLst>
              <a:gd name="adj" fmla="val 360010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04956" y="1903690"/>
            <a:ext cx="231100" cy="231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27759" y="1711166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Add Vehicle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027759" y="1997035"/>
            <a:ext cx="9290209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Status automatically set to </a:t>
            </a:r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Available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12432" y="2580561"/>
            <a:ext cx="616268" cy="924401"/>
          </a:xfrm>
          <a:prstGeom prst="roundRect">
            <a:avLst>
              <a:gd name="adj" fmla="val 360010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4956" y="2927152"/>
            <a:ext cx="231100" cy="231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27759" y="2734628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Add Driver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027759" y="3020497"/>
            <a:ext cx="9290209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Licence number validated on entry.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312432" y="3604022"/>
            <a:ext cx="616268" cy="924401"/>
          </a:xfrm>
          <a:prstGeom prst="roundRect">
            <a:avLst>
              <a:gd name="adj" fmla="val 360010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04956" y="3950613"/>
            <a:ext cx="231100" cy="2311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27759" y="3758089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Assign Trip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027759" y="4043958"/>
            <a:ext cx="9290209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Cargo weight checked against vehicle capacity.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312432" y="4627483"/>
            <a:ext cx="616268" cy="924401"/>
          </a:xfrm>
          <a:prstGeom prst="roundRect">
            <a:avLst>
              <a:gd name="adj" fmla="val 360010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4956" y="4974074"/>
            <a:ext cx="231100" cy="2311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027759" y="4781550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Trip Completed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027759" y="5067419"/>
            <a:ext cx="9290209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Odometer reading updated automatically.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2312432" y="5650944"/>
            <a:ext cx="616268" cy="924401"/>
          </a:xfrm>
          <a:prstGeom prst="roundRect">
            <a:avLst>
              <a:gd name="adj" fmla="val 360010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04956" y="5997535"/>
            <a:ext cx="231100" cy="2311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027759" y="5805011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Log Maintenance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027759" y="6090880"/>
            <a:ext cx="9290209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Vehicle auto-flagged as </a:t>
            </a:r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Shop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2312432" y="6674406"/>
            <a:ext cx="616268" cy="924401"/>
          </a:xfrm>
          <a:prstGeom prst="roundRect">
            <a:avLst>
              <a:gd name="adj" fmla="val 360010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04956" y="7020997"/>
            <a:ext cx="231100" cy="2311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027759" y="6828473"/>
            <a:ext cx="1812488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Analytics Module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3027759" y="7114342"/>
            <a:ext cx="9290209" cy="202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Cost, fuel efficiency, and ROI updated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3055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1402" y="3205282"/>
            <a:ext cx="1882140" cy="360521"/>
          </a:xfrm>
          <a:prstGeom prst="roundRect">
            <a:avLst>
              <a:gd name="adj" fmla="val 67386"/>
            </a:avLst>
          </a:prstGeom>
          <a:solidFill>
            <a:srgbClr val="CFD6FC"/>
          </a:solidFill>
          <a:ln/>
        </p:spPr>
      </p:sp>
      <p:sp>
        <p:nvSpPr>
          <p:cNvPr id="4" name="Text 1"/>
          <p:cNvSpPr/>
          <p:nvPr/>
        </p:nvSpPr>
        <p:spPr>
          <a:xfrm>
            <a:off x="862846" y="3266003"/>
            <a:ext cx="1639253" cy="239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INNOVATION &amp; IMPACT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41402" y="3634264"/>
            <a:ext cx="891635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Smarter Operations. Measurable Results.</a:t>
            </a:r>
            <a:endParaRPr lang="en-US" sz="3750" dirty="0"/>
          </a:p>
        </p:txBody>
      </p:sp>
      <p:sp>
        <p:nvSpPr>
          <p:cNvPr id="6" name="Shape 3"/>
          <p:cNvSpPr/>
          <p:nvPr/>
        </p:nvSpPr>
        <p:spPr>
          <a:xfrm>
            <a:off x="741402" y="4486513"/>
            <a:ext cx="6488073" cy="1448514"/>
          </a:xfrm>
          <a:prstGeom prst="roundRect">
            <a:avLst>
              <a:gd name="adj" fmla="val 2096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6668" y="4711779"/>
            <a:ext cx="262199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Rule-Based Automation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66668" y="5112068"/>
            <a:ext cx="6037540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Business logic enforced at every step — reducing manual errors and ad hoc decisions.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00687" y="4486513"/>
            <a:ext cx="6488192" cy="1448514"/>
          </a:xfrm>
          <a:prstGeom prst="roundRect">
            <a:avLst>
              <a:gd name="adj" fmla="val 2096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25953" y="4711779"/>
            <a:ext cx="276248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Live Status &amp; Compliance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625953" y="5112068"/>
            <a:ext cx="6037659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Real-time vehicle availability and driver compliance visible to every authorised user.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41402" y="6106239"/>
            <a:ext cx="6488073" cy="1448514"/>
          </a:xfrm>
          <a:prstGeom prst="roundRect">
            <a:avLst>
              <a:gd name="adj" fmla="val 2096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6668" y="6331506"/>
            <a:ext cx="24336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Unified Financial View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966668" y="6731794"/>
            <a:ext cx="6037540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Fuel, maintenance, and operational costs consolidated in a single source of truth.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7400687" y="6106239"/>
            <a:ext cx="6488192" cy="1448514"/>
          </a:xfrm>
          <a:prstGeom prst="roundRect">
            <a:avLst>
              <a:gd name="adj" fmla="val 2096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5953" y="6331506"/>
            <a:ext cx="254269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Enterprise-Ready Scale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7625953" y="6731794"/>
            <a:ext cx="6037659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Modular architecture designed to grow — from a small fleet to a large enterprise operation.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6167" y="678537"/>
            <a:ext cx="2121098" cy="429816"/>
          </a:xfrm>
          <a:prstGeom prst="roundRect">
            <a:avLst>
              <a:gd name="adj" fmla="val 61117"/>
            </a:avLst>
          </a:prstGeom>
          <a:noFill/>
          <a:ln w="15240">
            <a:solidFill>
              <a:srgbClr val="2D4D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2733" y="759381"/>
            <a:ext cx="1827967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TEAM &amp; FUTURE SCOPE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6167" y="1188363"/>
            <a:ext cx="6611898" cy="643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Team Behind FleetFlow</a:t>
            </a:r>
            <a:endParaRPr lang="en-US" sz="4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167" y="2132409"/>
            <a:ext cx="1358146" cy="13581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6167" y="3740706"/>
            <a:ext cx="2575322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Narendra Purohit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6167" y="4182547"/>
            <a:ext cx="3086814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Team Leader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132" y="2132409"/>
            <a:ext cx="1358146" cy="13581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03132" y="3740706"/>
            <a:ext cx="2575322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Bhavesh Tirgar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103132" y="4182547"/>
            <a:ext cx="30869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Backend Developer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216" y="2132409"/>
            <a:ext cx="1358146" cy="135814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40216" y="3740706"/>
            <a:ext cx="2575322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Dixit Luvani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7440216" y="4182547"/>
            <a:ext cx="30869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Frontend </a:t>
            </a:r>
            <a:endParaRPr lang="en-US" sz="1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7299" y="2132409"/>
            <a:ext cx="1358146" cy="135814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77299" y="3740706"/>
            <a:ext cx="2575322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Hardik Sarvaiya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10777299" y="4182547"/>
            <a:ext cx="308693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Database Integration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766167" y="4852351"/>
            <a:ext cx="13098066" cy="34885"/>
          </a:xfrm>
          <a:prstGeom prst="rect">
            <a:avLst/>
          </a:prstGeom>
          <a:solidFill>
            <a:srgbClr val="00002E">
              <a:alpha val="5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766167" y="5187434"/>
            <a:ext cx="2575322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Future Scope</a:t>
            </a:r>
            <a:endParaRPr lang="en-US" sz="2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201" y="5820370"/>
            <a:ext cx="328255" cy="32825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77447" y="5809536"/>
            <a:ext cx="5712619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📱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Mobile App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Dedicated app for drivers and dispatchers on the go.</a:t>
            </a:r>
            <a:endParaRPr lang="en-US" sz="17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22250" y="5820370"/>
            <a:ext cx="328255" cy="32825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151495" y="5809536"/>
            <a:ext cx="571273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☁️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Full Cloud Deployment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Scalable infrastructure for enterprise workloads.</a:t>
            </a:r>
            <a:endParaRPr lang="en-US" sz="17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8201" y="6891218"/>
            <a:ext cx="328255" cy="32825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477447" y="6880384"/>
            <a:ext cx="5712619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📊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AI-Based Optimisation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Intelligent route planning and cost prediction.</a:t>
            </a:r>
            <a:endParaRPr lang="en-US" sz="17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22250" y="6891218"/>
            <a:ext cx="328255" cy="32825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151495" y="6880384"/>
            <a:ext cx="571273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🧩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ERP Integration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Connect with external enterprise resource planning systems.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2026-02-21T11:25:39Z</dcterms:created>
  <dcterms:modified xsi:type="dcterms:W3CDTF">2026-02-21T11:25:39Z</dcterms:modified>
</cp:coreProperties>
</file>